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5664"/>
  </p:normalViewPr>
  <p:slideViewPr>
    <p:cSldViewPr snapToGrid="0" snapToObjects="1">
      <p:cViewPr varScale="1">
        <p:scale>
          <a:sx n="95" d="100"/>
          <a:sy n="95" d="100"/>
        </p:scale>
        <p:origin x="200"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059E4C-6302-0540-A3E2-527CA25091F9}" type="datetimeFigureOut">
              <a:rPr kumimoji="1" lang="zh-CN" altLang="en-US" smtClean="0"/>
              <a:t>2019/6/16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64CCEA-A774-1142-A266-FC2353F5D32A}" type="slidenum">
              <a:rPr kumimoji="1" lang="zh-CN" altLang="en-US" smtClean="0"/>
              <a:t>‹#›</a:t>
            </a:fld>
            <a:endParaRPr kumimoji="1" lang="zh-CN" altLang="en-US"/>
          </a:p>
        </p:txBody>
      </p:sp>
    </p:spTree>
    <p:extLst>
      <p:ext uri="{BB962C8B-B14F-4D97-AF65-F5344CB8AC3E}">
        <p14:creationId xmlns:p14="http://schemas.microsoft.com/office/powerpoint/2010/main" val="626639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7064CCEA-A774-1142-A266-FC2353F5D32A}" type="slidenum">
              <a:rPr kumimoji="1" lang="zh-CN" altLang="en-US" smtClean="0"/>
              <a:t>2</a:t>
            </a:fld>
            <a:endParaRPr kumimoji="1" lang="zh-CN" altLang="en-US"/>
          </a:p>
        </p:txBody>
      </p:sp>
    </p:spTree>
    <p:extLst>
      <p:ext uri="{BB962C8B-B14F-4D97-AF65-F5344CB8AC3E}">
        <p14:creationId xmlns:p14="http://schemas.microsoft.com/office/powerpoint/2010/main" val="670187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smtClean="0"/>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smtClean="0"/>
              <a:t>单击此处编辑母版副标题样式</a:t>
            </a:r>
            <a:endParaRPr kumimoji="1" lang="zh-CN" altLang="en-US"/>
          </a:p>
        </p:txBody>
      </p:sp>
      <p:sp>
        <p:nvSpPr>
          <p:cNvPr id="4" name="日期占位符 3"/>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1099458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50978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ja-JP" altLang="en-US" smtClean="0"/>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单击此处编辑母版文本样式</a:t>
            </a:r>
          </a:p>
        </p:txBody>
      </p:sp>
      <p:sp>
        <p:nvSpPr>
          <p:cNvPr id="4" name="日期占位符 3"/>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306951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ja-JP" altLang="en-US" smtClean="0"/>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5" name="日期占位符 4"/>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677720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ja-JP" altLang="en-US" smtClean="0"/>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7" name="日期占位符 6"/>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190658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ja-JP" altLang="en-US" smtClean="0"/>
              <a:t>单击此处编辑母版标题样式</a:t>
            </a:r>
            <a:endParaRPr kumimoji="1" lang="zh-CN" altLang="en-US"/>
          </a:p>
        </p:txBody>
      </p:sp>
      <p:sp>
        <p:nvSpPr>
          <p:cNvPr id="3" name="日期占位符 2"/>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355656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1079856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ja-JP" altLang="en-US" smtClean="0"/>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单击此处编辑母版文本样式</a:t>
            </a:r>
          </a:p>
        </p:txBody>
      </p:sp>
      <p:sp>
        <p:nvSpPr>
          <p:cNvPr id="5" name="日期占位符 4"/>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763087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ja-JP" altLang="en-US" smtClean="0"/>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单击此处编辑母版文本样式</a:t>
            </a:r>
          </a:p>
        </p:txBody>
      </p:sp>
      <p:sp>
        <p:nvSpPr>
          <p:cNvPr id="5" name="日期占位符 4"/>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447121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ja-JP" altLang="en-US" smtClean="0"/>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4" name="日期占位符 3"/>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725517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ja-JP" altLang="en-US" smtClean="0"/>
              <a:t>单击此处编辑母版标题样式</a:t>
            </a:r>
            <a:endParaRPr kumimoji="1" lang="zh-CN" altLang="en-US"/>
          </a:p>
        </p:txBody>
      </p:sp>
      <p:sp>
        <p:nvSpPr>
          <p:cNvPr id="3" name="竖排文本占位符 2"/>
          <p:cNvSpPr>
            <a:spLocks noGrp="1"/>
          </p:cNvSpPr>
          <p:nvPr>
            <p:ph type="body" orient="vert" idx="1"/>
          </p:nvPr>
        </p:nvSpPr>
        <p:spPr>
          <a:xfrm>
            <a:off x="838200" y="365125"/>
            <a:ext cx="7734300" cy="5811838"/>
          </a:xfrm>
        </p:spPr>
        <p:txBody>
          <a:bodyPr vert="eaVert"/>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4" name="日期占位符 3"/>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36118072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710F46-BC24-784E-80C8-A6CFFD34AF82}" type="datetimeFigureOut">
              <a:rPr kumimoji="1" lang="zh-CN" altLang="en-US" smtClean="0"/>
              <a:t>2019/6/16</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1395859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kumimoji="1" lang="zh-CN" altLang="en-US"/>
          </a:p>
        </p:txBody>
      </p:sp>
      <p:sp>
        <p:nvSpPr>
          <p:cNvPr id="3" name="副标题 2"/>
          <p:cNvSpPr>
            <a:spLocks noGrp="1"/>
          </p:cNvSpPr>
          <p:nvPr>
            <p:ph type="subTitle" idx="1"/>
          </p:nvPr>
        </p:nvSpPr>
        <p:spPr/>
        <p:txBody>
          <a:bodyPr/>
          <a:lstStyle/>
          <a:p>
            <a:endParaRPr kumimoji="1" lang="zh-CN" altLang="en-US"/>
          </a:p>
        </p:txBody>
      </p:sp>
    </p:spTree>
    <p:extLst>
      <p:ext uri="{BB962C8B-B14F-4D97-AF65-F5344CB8AC3E}">
        <p14:creationId xmlns:p14="http://schemas.microsoft.com/office/powerpoint/2010/main" val="1647290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dirty="0"/>
          </a:p>
        </p:txBody>
      </p:sp>
      <p:sp>
        <p:nvSpPr>
          <p:cNvPr id="3" name="内容占位符 2"/>
          <p:cNvSpPr>
            <a:spLocks noGrp="1"/>
          </p:cNvSpPr>
          <p:nvPr>
            <p:ph idx="1"/>
          </p:nvPr>
        </p:nvSpPr>
        <p:spPr/>
        <p:txBody>
          <a:bodyPr>
            <a:normAutofit/>
          </a:bodyPr>
          <a:lstStyle/>
          <a:p>
            <a:r>
              <a:rPr kumimoji="1" lang="ja-JP" altLang="en-US" sz="1400" dirty="0" smtClean="0"/>
              <a:t>テナントごとの利用頻度と</a:t>
            </a:r>
            <a:r>
              <a:rPr kumimoji="1" lang="ja-JP" altLang="en-US" sz="1400" dirty="0" smtClean="0"/>
              <a:t>クライアントごとの利用頻度を確認できる</a:t>
            </a:r>
            <a:endParaRPr kumimoji="1" lang="ja-JP" altLang="en-US" sz="1400" dirty="0" smtClean="0"/>
          </a:p>
          <a:p>
            <a:r>
              <a:rPr kumimoji="1" lang="ja-JP" altLang="en-US" sz="1400" dirty="0" smtClean="0">
                <a:solidFill>
                  <a:srgbClr val="FF0000"/>
                </a:solidFill>
              </a:rPr>
              <a:t>上位１０テナントの中では大学の割合（</a:t>
            </a:r>
            <a:r>
              <a:rPr kumimoji="1" lang="en-US" altLang="ja-JP" sz="1400" dirty="0" smtClean="0">
                <a:solidFill>
                  <a:srgbClr val="FF0000"/>
                </a:solidFill>
              </a:rPr>
              <a:t>6/10</a:t>
            </a:r>
            <a:r>
              <a:rPr kumimoji="1" lang="ja-JP" altLang="en-US" sz="1400" dirty="0" smtClean="0">
                <a:solidFill>
                  <a:srgbClr val="FF0000"/>
                </a:solidFill>
              </a:rPr>
              <a:t>）が一番、会社（</a:t>
            </a:r>
            <a:r>
              <a:rPr kumimoji="1" lang="en-US" altLang="ja-JP" sz="1400" dirty="0" smtClean="0">
                <a:solidFill>
                  <a:srgbClr val="FF0000"/>
                </a:solidFill>
              </a:rPr>
              <a:t>2</a:t>
            </a:r>
            <a:r>
              <a:rPr kumimoji="1" lang="ja-JP" altLang="en-US" sz="1400" dirty="0" smtClean="0">
                <a:solidFill>
                  <a:srgbClr val="FF0000"/>
                </a:solidFill>
              </a:rPr>
              <a:t>）とシェアオフィス（</a:t>
            </a:r>
            <a:r>
              <a:rPr kumimoji="1" lang="en-US" altLang="ja-JP" sz="1400" dirty="0" smtClean="0">
                <a:solidFill>
                  <a:srgbClr val="FF0000"/>
                </a:solidFill>
              </a:rPr>
              <a:t>2</a:t>
            </a:r>
            <a:r>
              <a:rPr kumimoji="1" lang="ja-JP" altLang="en-US" sz="1400" dirty="0" smtClean="0">
                <a:solidFill>
                  <a:srgbClr val="FF0000"/>
                </a:solidFill>
              </a:rPr>
              <a:t>）の利用も</a:t>
            </a:r>
            <a:r>
              <a:rPr lang="ja-JP" altLang="en-US" sz="1400" b="1" dirty="0" smtClean="0">
                <a:solidFill>
                  <a:srgbClr val="FF0000"/>
                </a:solidFill>
              </a:rPr>
              <a:t>頻繁</a:t>
            </a:r>
            <a:endParaRPr kumimoji="1" lang="ja-JP" altLang="en-US" sz="1400" dirty="0" smtClean="0">
              <a:solidFill>
                <a:srgbClr val="FF0000"/>
              </a:solidFill>
            </a:endParaRPr>
          </a:p>
          <a:p>
            <a:r>
              <a:rPr kumimoji="1" lang="ja-JP" altLang="en-US" sz="1400" dirty="0" smtClean="0"/>
              <a:t>会社とシェアオフィスでは主にプリントツールを利用している、ユーザー</a:t>
            </a:r>
            <a:r>
              <a:rPr kumimoji="1" lang="en-US" altLang="ja-JP" sz="1400" dirty="0" smtClean="0"/>
              <a:t>Web</a:t>
            </a:r>
            <a:r>
              <a:rPr kumimoji="1" lang="ja-JP" altLang="en-US" sz="1400" dirty="0" smtClean="0"/>
              <a:t>の利用がほどんどない</a:t>
            </a:r>
          </a:p>
          <a:p>
            <a:r>
              <a:rPr kumimoji="1" lang="ja-JP" altLang="en-US" sz="1400" dirty="0" smtClean="0"/>
              <a:t>携帯端末は大学ではよく利用されている</a:t>
            </a:r>
          </a:p>
          <a:p>
            <a:endParaRPr kumimoji="1" lang="ja-JP" altLang="en-US" sz="1400" dirty="0"/>
          </a:p>
          <a:p>
            <a:endParaRPr kumimoji="1" lang="ja-JP" altLang="en-US" sz="1400" dirty="0" smtClean="0"/>
          </a:p>
          <a:p>
            <a:r>
              <a:rPr kumimoji="1" lang="ja-JP" altLang="en-US" sz="1400" dirty="0" smtClean="0"/>
              <a:t>！！！じょうい　とおの中　ひんぱん</a:t>
            </a:r>
          </a:p>
          <a:p>
            <a:endParaRPr kumimoji="1" lang="ja-JP" altLang="en-US" sz="1400" dirty="0"/>
          </a:p>
          <a:p>
            <a:endParaRPr kumimoji="1" lang="ja-JP" altLang="en-US" sz="1400" dirty="0" smtClean="0"/>
          </a:p>
          <a:p>
            <a:endParaRPr kumimoji="1" lang="zh-CN" altLang="en-US" sz="1400" dirty="0"/>
          </a:p>
        </p:txBody>
      </p:sp>
      <p:sp>
        <p:nvSpPr>
          <p:cNvPr id="4" name="矩形标注 3"/>
          <p:cNvSpPr/>
          <p:nvPr/>
        </p:nvSpPr>
        <p:spPr>
          <a:xfrm>
            <a:off x="1040524" y="4246180"/>
            <a:ext cx="1608547" cy="514080"/>
          </a:xfrm>
          <a:prstGeom prst="wedgeRectCallout">
            <a:avLst>
              <a:gd name="adj1" fmla="val 28434"/>
              <a:gd name="adj2" fmla="val 118474"/>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sz="1200" dirty="0" smtClean="0"/>
              <a:t>検索</a:t>
            </a:r>
            <a:r>
              <a:rPr kumimoji="1" lang="en-US" altLang="ja-JP" sz="1200" dirty="0" smtClean="0"/>
              <a:t>/</a:t>
            </a:r>
            <a:r>
              <a:rPr kumimoji="1" lang="ja-JP" altLang="en-US" sz="1200" dirty="0" smtClean="0"/>
              <a:t>ソートしたデータをそのまま出力できる</a:t>
            </a:r>
          </a:p>
        </p:txBody>
      </p:sp>
    </p:spTree>
    <p:extLst>
      <p:ext uri="{BB962C8B-B14F-4D97-AF65-F5344CB8AC3E}">
        <p14:creationId xmlns:p14="http://schemas.microsoft.com/office/powerpoint/2010/main" val="2095611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ja-JP" dirty="0" smtClean="0"/>
              <a:t>k</a:t>
            </a:r>
            <a:endParaRPr kumimoji="1" lang="zh-CN" altLang="en-US" dirty="0"/>
          </a:p>
        </p:txBody>
      </p:sp>
      <p:sp>
        <p:nvSpPr>
          <p:cNvPr id="3" name="内容占位符 2"/>
          <p:cNvSpPr>
            <a:spLocks noGrp="1"/>
          </p:cNvSpPr>
          <p:nvPr>
            <p:ph idx="1"/>
          </p:nvPr>
        </p:nvSpPr>
        <p:spPr/>
        <p:txBody>
          <a:bodyPr>
            <a:normAutofit/>
          </a:bodyPr>
          <a:lstStyle/>
          <a:p>
            <a:r>
              <a:rPr kumimoji="1" lang="ja-JP" altLang="en-US" sz="1400" dirty="0" smtClean="0"/>
              <a:t>アップロード方式ではプリントツールの利用が一番多かった（</a:t>
            </a:r>
            <a:r>
              <a:rPr kumimoji="1" lang="en-US" altLang="ja-JP" sz="1400" dirty="0" smtClean="0"/>
              <a:t>77.5</a:t>
            </a:r>
            <a:r>
              <a:rPr kumimoji="1" lang="ja-JP" altLang="en-US" sz="1400" dirty="0" smtClean="0"/>
              <a:t>％）、ユーザー</a:t>
            </a:r>
            <a:r>
              <a:rPr kumimoji="1" lang="en-US" altLang="ja-JP" sz="1400" dirty="0" smtClean="0"/>
              <a:t>Web</a:t>
            </a:r>
            <a:r>
              <a:rPr kumimoji="1" lang="ja-JP" altLang="en-US" sz="1400" dirty="0" smtClean="0"/>
              <a:t>の利用が予想外少なかった（</a:t>
            </a:r>
            <a:r>
              <a:rPr kumimoji="1" lang="en-US" altLang="ja-JP" sz="1400" dirty="0" smtClean="0"/>
              <a:t>1.4%</a:t>
            </a:r>
            <a:r>
              <a:rPr kumimoji="1" lang="ja-JP" altLang="en-US" sz="1400" dirty="0" smtClean="0"/>
              <a:t>）</a:t>
            </a:r>
          </a:p>
          <a:p>
            <a:r>
              <a:rPr kumimoji="1" lang="ja-JP" altLang="en-US" sz="1400" dirty="0" smtClean="0"/>
              <a:t>ファイル一覧リストによるプリントは一番多かった（７１．６％）</a:t>
            </a:r>
            <a:endParaRPr kumimoji="1" lang="en-US" altLang="ja-JP" sz="1400" dirty="0"/>
          </a:p>
          <a:p>
            <a:r>
              <a:rPr kumimoji="1" lang="ja-JP" altLang="en-US" sz="1400" dirty="0" smtClean="0"/>
              <a:t>プリントツール＋ファイル一覧によるプリントの利用が多かったのは個別</a:t>
            </a:r>
            <a:r>
              <a:rPr kumimoji="1" lang="ja-JP" altLang="en-US" sz="1400" dirty="0" smtClean="0"/>
              <a:t>テナントの利用頻度が高かった</a:t>
            </a:r>
            <a:r>
              <a:rPr kumimoji="1" lang="ja-JP" altLang="en-US" sz="1400" dirty="0" smtClean="0"/>
              <a:t>からです</a:t>
            </a:r>
            <a:r>
              <a:rPr kumimoji="1" lang="ja-JP" altLang="en-US" sz="1400" dirty="0" smtClean="0"/>
              <a:t>（日本損害保険協会</a:t>
            </a:r>
            <a:r>
              <a:rPr kumimoji="1" lang="en-US" altLang="ja-JP" sz="1400" dirty="0" smtClean="0"/>
              <a:t>37</a:t>
            </a:r>
            <a:r>
              <a:rPr kumimoji="1" lang="ja-JP" altLang="en-US" sz="1400" dirty="0" smtClean="0"/>
              <a:t>万</a:t>
            </a:r>
            <a:r>
              <a:rPr kumimoji="1" lang="ja-JP" altLang="en-US" sz="1400" dirty="0" smtClean="0"/>
              <a:t>、</a:t>
            </a:r>
            <a:r>
              <a:rPr kumimoji="1" lang="en-US" altLang="ja-JP" sz="1400" dirty="0" smtClean="0"/>
              <a:t>TigerAir</a:t>
            </a:r>
            <a:r>
              <a:rPr kumimoji="1" lang="en-US" altLang="ja-JP" sz="1400" dirty="0" smtClean="0"/>
              <a:t>16</a:t>
            </a:r>
            <a:r>
              <a:rPr kumimoji="1" lang="ja-JP" altLang="en-US" sz="1400" dirty="0" smtClean="0"/>
              <a:t>万</a:t>
            </a:r>
            <a:r>
              <a:rPr kumimoji="1" lang="ja-JP" altLang="en-US" sz="1400" dirty="0" smtClean="0"/>
              <a:t>、この二つテナントの割合は</a:t>
            </a:r>
            <a:r>
              <a:rPr kumimoji="1" lang="en-US" altLang="ja-JP" sz="1400" dirty="0" smtClean="0"/>
              <a:t>83%</a:t>
            </a:r>
            <a:r>
              <a:rPr kumimoji="1" lang="ja-JP" altLang="en-US" sz="1400" dirty="0" smtClean="0"/>
              <a:t>）</a:t>
            </a:r>
            <a:endParaRPr kumimoji="1" lang="ja-JP" altLang="en-US" sz="1400" dirty="0" smtClean="0"/>
          </a:p>
          <a:p>
            <a:endParaRPr kumimoji="1" lang="ja-JP" altLang="en-US" sz="1400" dirty="0" smtClean="0"/>
          </a:p>
          <a:p>
            <a:endParaRPr kumimoji="1" lang="ja-JP" altLang="en-US" sz="1400" dirty="0" smtClean="0"/>
          </a:p>
          <a:p>
            <a:endParaRPr kumimoji="1" lang="ja-JP" altLang="en-US" sz="1400" dirty="0"/>
          </a:p>
          <a:p>
            <a:endParaRPr kumimoji="1" lang="ja-JP" altLang="en-US" sz="1400" dirty="0" smtClean="0"/>
          </a:p>
          <a:p>
            <a:endParaRPr kumimoji="1" lang="ja-JP" altLang="en-US" sz="1400" dirty="0"/>
          </a:p>
          <a:p>
            <a:r>
              <a:rPr kumimoji="1" lang="ja-JP" altLang="en-US" sz="1400" dirty="0" smtClean="0"/>
              <a:t>　　　　　　　　　日本損害保険協会＋</a:t>
            </a:r>
            <a:r>
              <a:rPr kumimoji="1" lang="en-US" altLang="ja-JP" sz="1400" dirty="0" smtClean="0"/>
              <a:t>Tiger Air</a:t>
            </a:r>
            <a:endParaRPr kumimoji="1" lang="zh-CN" altLang="en-US" sz="1400" dirty="0"/>
          </a:p>
        </p:txBody>
      </p:sp>
      <p:sp>
        <p:nvSpPr>
          <p:cNvPr id="5" name="右大括号 4"/>
          <p:cNvSpPr/>
          <p:nvPr/>
        </p:nvSpPr>
        <p:spPr>
          <a:xfrm>
            <a:off x="1559859" y="3792071"/>
            <a:ext cx="443753" cy="17884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7" name="左大括号 6"/>
          <p:cNvSpPr/>
          <p:nvPr/>
        </p:nvSpPr>
        <p:spPr>
          <a:xfrm>
            <a:off x="4612341" y="3792071"/>
            <a:ext cx="537883" cy="188258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Tree>
    <p:extLst>
      <p:ext uri="{BB962C8B-B14F-4D97-AF65-F5344CB8AC3E}">
        <p14:creationId xmlns:p14="http://schemas.microsoft.com/office/powerpoint/2010/main" val="2062154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ja-JP" dirty="0" smtClean="0"/>
              <a:t>k</a:t>
            </a:r>
            <a:endParaRPr kumimoji="1" lang="zh-CN" altLang="en-US" dirty="0"/>
          </a:p>
        </p:txBody>
      </p:sp>
      <p:sp>
        <p:nvSpPr>
          <p:cNvPr id="3" name="内容占位符 2"/>
          <p:cNvSpPr>
            <a:spLocks noGrp="1"/>
          </p:cNvSpPr>
          <p:nvPr>
            <p:ph idx="1"/>
          </p:nvPr>
        </p:nvSpPr>
        <p:spPr/>
        <p:txBody>
          <a:bodyPr>
            <a:normAutofit/>
          </a:bodyPr>
          <a:lstStyle/>
          <a:p>
            <a:r>
              <a:rPr kumimoji="1" lang="ja-JP" altLang="en-US" sz="1400" dirty="0" smtClean="0"/>
              <a:t>テナント名によってお客様のタイプを統計した</a:t>
            </a:r>
            <a:r>
              <a:rPr kumimoji="1" lang="ja-JP" altLang="en-US" sz="1400" strike="sngStrike" dirty="0" smtClean="0"/>
              <a:t>（集計期間にサービスを利用したテナントは対象）</a:t>
            </a:r>
          </a:p>
          <a:p>
            <a:r>
              <a:rPr kumimoji="1" lang="ja-JP" altLang="en-US" sz="1400" dirty="0" smtClean="0"/>
              <a:t>会社と学校は主な顧客タイプ</a:t>
            </a:r>
          </a:p>
          <a:p>
            <a:endParaRPr kumimoji="1" lang="ja-JP" altLang="en-US" sz="1400" dirty="0" smtClean="0"/>
          </a:p>
          <a:p>
            <a:pPr marL="0" indent="0">
              <a:buNone/>
            </a:pPr>
            <a:endParaRPr kumimoji="1" lang="ja-JP" altLang="en-US" sz="1400" dirty="0" smtClean="0"/>
          </a:p>
          <a:p>
            <a:pPr marL="0" indent="0">
              <a:buNone/>
            </a:pPr>
            <a:endParaRPr kumimoji="1" lang="ja-JP" altLang="en-US" sz="1400" dirty="0"/>
          </a:p>
        </p:txBody>
      </p:sp>
      <p:sp>
        <p:nvSpPr>
          <p:cNvPr id="5" name="矩形标注 4"/>
          <p:cNvSpPr/>
          <p:nvPr/>
        </p:nvSpPr>
        <p:spPr>
          <a:xfrm>
            <a:off x="1040524" y="4246180"/>
            <a:ext cx="1608547" cy="514080"/>
          </a:xfrm>
          <a:prstGeom prst="wedgeRectCallout">
            <a:avLst>
              <a:gd name="adj1" fmla="val 28434"/>
              <a:gd name="adj2" fmla="val 118474"/>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sz="1200" dirty="0" smtClean="0"/>
              <a:t>テナント名から判断できないテナント（韓国語など）</a:t>
            </a:r>
          </a:p>
        </p:txBody>
      </p:sp>
      <p:sp>
        <p:nvSpPr>
          <p:cNvPr id="6" name="矩形标注 5"/>
          <p:cNvSpPr/>
          <p:nvPr/>
        </p:nvSpPr>
        <p:spPr>
          <a:xfrm>
            <a:off x="3062065" y="4246180"/>
            <a:ext cx="1608547" cy="514080"/>
          </a:xfrm>
          <a:prstGeom prst="wedgeRectCallout">
            <a:avLst>
              <a:gd name="adj1" fmla="val 28434"/>
              <a:gd name="adj2" fmla="val 118474"/>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sz="1200" dirty="0" smtClean="0"/>
              <a:t>教会など</a:t>
            </a:r>
            <a:endParaRPr kumimoji="1" lang="zh-CN" altLang="en-US" sz="1200" dirty="0" smtClean="0"/>
          </a:p>
        </p:txBody>
      </p:sp>
    </p:spTree>
    <p:extLst>
      <p:ext uri="{BB962C8B-B14F-4D97-AF65-F5344CB8AC3E}">
        <p14:creationId xmlns:p14="http://schemas.microsoft.com/office/powerpoint/2010/main" val="475328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ja-JP" altLang="en-US" dirty="0" smtClean="0"/>
              <a:t>顧客タイプごとの出力状況</a:t>
            </a:r>
            <a:endParaRPr kumimoji="1" lang="zh-CN" altLang="en-US" dirty="0"/>
          </a:p>
        </p:txBody>
      </p:sp>
      <p:sp>
        <p:nvSpPr>
          <p:cNvPr id="3" name="内容占位符 2"/>
          <p:cNvSpPr>
            <a:spLocks noGrp="1"/>
          </p:cNvSpPr>
          <p:nvPr>
            <p:ph idx="1"/>
          </p:nvPr>
        </p:nvSpPr>
        <p:spPr/>
        <p:txBody>
          <a:bodyPr>
            <a:normAutofit/>
          </a:bodyPr>
          <a:lstStyle/>
          <a:p>
            <a:r>
              <a:rPr kumimoji="1" lang="ja-JP" altLang="en-US" sz="1400" dirty="0" smtClean="0"/>
              <a:t>会社の出力総数は一番多かったのは個別テナントの利用割合が高かったんからです</a:t>
            </a:r>
          </a:p>
          <a:p>
            <a:pPr marL="0" indent="0">
              <a:buNone/>
            </a:pPr>
            <a:r>
              <a:rPr kumimoji="1" lang="ja-JP" altLang="en-US" sz="1400" dirty="0" smtClean="0"/>
              <a:t>　　テナントごとの利用詳細テーブルを見れば、たくさんの会社のテナントはあまり使わなかった</a:t>
            </a:r>
            <a:r>
              <a:rPr kumimoji="1" lang="ja-JP" altLang="en-US" sz="1400" dirty="0" smtClean="0">
                <a:solidFill>
                  <a:srgbClr val="FF0000"/>
                </a:solidFill>
              </a:rPr>
              <a:t>がわ</a:t>
            </a:r>
            <a:r>
              <a:rPr kumimoji="1" lang="ja-JP" altLang="en-US" sz="1400" dirty="0" smtClean="0"/>
              <a:t>かる</a:t>
            </a:r>
          </a:p>
          <a:p>
            <a:r>
              <a:rPr kumimoji="1" lang="ja-JP" altLang="en-US" sz="1400" dirty="0" smtClean="0"/>
              <a:t>タイプごとの利用頻度を把握するために平均値</a:t>
            </a:r>
            <a:r>
              <a:rPr kumimoji="1" lang="ja-JP" altLang="en-US" sz="1400" dirty="0" smtClean="0"/>
              <a:t>を</a:t>
            </a:r>
            <a:r>
              <a:rPr kumimoji="1" lang="ja-JP" altLang="en-US" sz="1400" dirty="0" smtClean="0"/>
              <a:t>計算</a:t>
            </a:r>
            <a:r>
              <a:rPr kumimoji="1" lang="ja-JP" altLang="en-US" sz="1400" dirty="0" smtClean="0"/>
              <a:t>する</a:t>
            </a:r>
            <a:r>
              <a:rPr kumimoji="1" lang="ja-JP" altLang="en-US" sz="1400" dirty="0" smtClean="0"/>
              <a:t>だけではなく、中央値（</a:t>
            </a:r>
            <a:r>
              <a:rPr lang="ja-JP" altLang="en-US" sz="1400" dirty="0" smtClean="0"/>
              <a:t>値の大きさの順に並べたとき中央にくる数値</a:t>
            </a:r>
            <a:r>
              <a:rPr kumimoji="1" lang="ja-JP" altLang="en-US" sz="1400" dirty="0" smtClean="0"/>
              <a:t>）も</a:t>
            </a:r>
            <a:r>
              <a:rPr kumimoji="1" lang="ja-JP" altLang="en-US" sz="1400" dirty="0" smtClean="0"/>
              <a:t>重要</a:t>
            </a:r>
          </a:p>
          <a:p>
            <a:pPr marL="0" indent="0">
              <a:buNone/>
            </a:pPr>
            <a:r>
              <a:rPr kumimoji="1" lang="ja-JP" altLang="en-US" sz="1400" dirty="0" smtClean="0"/>
              <a:t>　　中央値によって、</a:t>
            </a:r>
            <a:r>
              <a:rPr kumimoji="1" lang="ja-JP" altLang="en-US" sz="1400" dirty="0" smtClean="0"/>
              <a:t>学校</a:t>
            </a:r>
            <a:r>
              <a:rPr kumimoji="1" lang="ja-JP" altLang="en-US" sz="1400" dirty="0" smtClean="0"/>
              <a:t>と</a:t>
            </a:r>
            <a:r>
              <a:rPr kumimoji="1" lang="ja-JP" altLang="en-US" sz="1400" dirty="0" smtClean="0"/>
              <a:t>シェアオフィス</a:t>
            </a:r>
            <a:r>
              <a:rPr kumimoji="1" lang="ja-JP" altLang="en-US" sz="1400" dirty="0" smtClean="0"/>
              <a:t>のテナントの割合は会社より少ないが、</a:t>
            </a:r>
            <a:r>
              <a:rPr kumimoji="1" lang="ja-JP" altLang="en-US" sz="1400" dirty="0" smtClean="0"/>
              <a:t>全体として利用頻度は高い</a:t>
            </a:r>
          </a:p>
          <a:p>
            <a:pPr marL="0" indent="0">
              <a:buNone/>
            </a:pPr>
            <a:r>
              <a:rPr kumimoji="1" lang="ja-JP" altLang="en-US" sz="1400" dirty="0"/>
              <a:t>　</a:t>
            </a:r>
            <a:r>
              <a:rPr kumimoji="1" lang="ja-JP" altLang="en-US" sz="1400" dirty="0" smtClean="0"/>
              <a:t>　−　会社テナントの中では半分のテナントは３回以下を利用した</a:t>
            </a:r>
          </a:p>
          <a:p>
            <a:pPr marL="0" indent="0">
              <a:buNone/>
            </a:pPr>
            <a:r>
              <a:rPr kumimoji="1" lang="ja-JP" altLang="en-US" sz="1400" dirty="0"/>
              <a:t>　</a:t>
            </a:r>
            <a:r>
              <a:rPr kumimoji="1" lang="ja-JP" altLang="en-US" sz="1400" dirty="0" smtClean="0"/>
              <a:t>　−　シェアオフィステナントの中では半分以上のテナントは４４５回以上を利用した</a:t>
            </a:r>
          </a:p>
          <a:p>
            <a:pPr marL="0" indent="0">
              <a:buNone/>
            </a:pPr>
            <a:r>
              <a:rPr kumimoji="1" lang="ja-JP" altLang="en-US" sz="1400" dirty="0" smtClean="0"/>
              <a:t>　　−　大学</a:t>
            </a:r>
            <a:r>
              <a:rPr kumimoji="1" lang="ja-JP" altLang="en-US" sz="1400" dirty="0" smtClean="0"/>
              <a:t>テナントの中では半分以上のテナントは</a:t>
            </a:r>
            <a:r>
              <a:rPr kumimoji="1" lang="ja-JP" altLang="en-US" sz="1400" dirty="0" smtClean="0"/>
              <a:t>１２０</a:t>
            </a:r>
            <a:r>
              <a:rPr kumimoji="1" lang="ja-JP" altLang="en-US" sz="1400" dirty="0" smtClean="0"/>
              <a:t>回以上を利用した</a:t>
            </a:r>
          </a:p>
          <a:p>
            <a:pPr marL="0" indent="0">
              <a:buNone/>
            </a:pPr>
            <a:endParaRPr kumimoji="1" lang="ja-JP" altLang="en-US" sz="1400" dirty="0" smtClean="0"/>
          </a:p>
          <a:p>
            <a:pPr marL="0" indent="0">
              <a:buNone/>
            </a:pPr>
            <a:endParaRPr kumimoji="1" lang="ja-JP" altLang="en-US" sz="1400" dirty="0" smtClean="0"/>
          </a:p>
        </p:txBody>
      </p:sp>
    </p:spTree>
    <p:extLst>
      <p:ext uri="{BB962C8B-B14F-4D97-AF65-F5344CB8AC3E}">
        <p14:creationId xmlns:p14="http://schemas.microsoft.com/office/powerpoint/2010/main" val="180816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ja-JP" altLang="en-US" dirty="0" smtClean="0"/>
              <a:t>１。４ファイルタイプの比率</a:t>
            </a:r>
            <a:endParaRPr kumimoji="1" lang="zh-CN" altLang="en-US" dirty="0"/>
          </a:p>
        </p:txBody>
      </p:sp>
      <p:sp>
        <p:nvSpPr>
          <p:cNvPr id="3" name="内容占位符 2"/>
          <p:cNvSpPr>
            <a:spLocks noGrp="1"/>
          </p:cNvSpPr>
          <p:nvPr>
            <p:ph idx="1"/>
          </p:nvPr>
        </p:nvSpPr>
        <p:spPr/>
        <p:txBody>
          <a:bodyPr>
            <a:normAutofit/>
          </a:bodyPr>
          <a:lstStyle/>
          <a:p>
            <a:r>
              <a:rPr kumimoji="1" lang="ja-JP" altLang="en-US" sz="1400" dirty="0" smtClean="0"/>
              <a:t>アップロードしたファイルの中に</a:t>
            </a:r>
            <a:r>
              <a:rPr kumimoji="1" lang="en-US" altLang="ja-JP" sz="1400" dirty="0" smtClean="0"/>
              <a:t>PDF</a:t>
            </a:r>
            <a:r>
              <a:rPr kumimoji="1" lang="ja-JP" altLang="en-US" sz="1400" dirty="0" smtClean="0"/>
              <a:t>が一番多かった</a:t>
            </a:r>
          </a:p>
          <a:p>
            <a:endParaRPr kumimoji="1" lang="ja-JP" altLang="en-US" sz="1400" dirty="0" smtClean="0"/>
          </a:p>
          <a:p>
            <a:endParaRPr kumimoji="1" lang="ja-JP" altLang="en-US" sz="1400" dirty="0"/>
          </a:p>
          <a:p>
            <a:endParaRPr kumimoji="1" lang="ja-JP" altLang="en-US" sz="1400" dirty="0" smtClean="0"/>
          </a:p>
          <a:p>
            <a:r>
              <a:rPr kumimoji="1" lang="zh-CN" altLang="en-US" sz="1400" dirty="0" smtClean="0"/>
              <a:t>删除</a:t>
            </a:r>
            <a:r>
              <a:rPr kumimoji="1" lang="en-US" altLang="zh-CN" sz="1400" dirty="0" smtClean="0"/>
              <a:t>RTF</a:t>
            </a:r>
            <a:r>
              <a:rPr kumimoji="1" lang="zh-CN" altLang="en-US" sz="1400" dirty="0" smtClean="0"/>
              <a:t> </a:t>
            </a:r>
            <a:r>
              <a:rPr kumimoji="1" lang="en-US" altLang="zh-CN" sz="1400" dirty="0" smtClean="0"/>
              <a:t>CSV</a:t>
            </a:r>
            <a:endParaRPr kumimoji="1" lang="zh-CN" altLang="en-US" sz="1400" dirty="0" smtClean="0"/>
          </a:p>
          <a:p>
            <a:endParaRPr kumimoji="1" lang="ja-JP" altLang="en-US" sz="1400" dirty="0" smtClean="0"/>
          </a:p>
        </p:txBody>
      </p:sp>
    </p:spTree>
    <p:extLst>
      <p:ext uri="{BB962C8B-B14F-4D97-AF65-F5344CB8AC3E}">
        <p14:creationId xmlns:p14="http://schemas.microsoft.com/office/powerpoint/2010/main" val="1709424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ja-JP" altLang="en-US" dirty="0" smtClean="0"/>
              <a:t>１。４ファイルタイプの比率</a:t>
            </a:r>
            <a:endParaRPr kumimoji="1" lang="zh-CN" altLang="en-US" dirty="0"/>
          </a:p>
        </p:txBody>
      </p:sp>
      <p:sp>
        <p:nvSpPr>
          <p:cNvPr id="3" name="内容占位符 2"/>
          <p:cNvSpPr>
            <a:spLocks noGrp="1"/>
          </p:cNvSpPr>
          <p:nvPr>
            <p:ph idx="1"/>
          </p:nvPr>
        </p:nvSpPr>
        <p:spPr/>
        <p:txBody>
          <a:bodyPr>
            <a:normAutofit/>
          </a:bodyPr>
          <a:lstStyle/>
          <a:p>
            <a:r>
              <a:rPr kumimoji="1" lang="zh-CN" altLang="en-US" sz="1400" dirty="0" smtClean="0"/>
              <a:t>删除第二个</a:t>
            </a:r>
            <a:r>
              <a:rPr kumimoji="1" lang="en-US" altLang="zh-CN" sz="1400" dirty="0" smtClean="0"/>
              <a:t>file</a:t>
            </a:r>
            <a:r>
              <a:rPr kumimoji="1" lang="zh-CN" altLang="en-US" sz="1400" dirty="0" smtClean="0"/>
              <a:t> </a:t>
            </a:r>
            <a:r>
              <a:rPr kumimoji="1" lang="en-US" altLang="zh-CN" sz="1400" dirty="0" smtClean="0"/>
              <a:t>type</a:t>
            </a:r>
            <a:r>
              <a:rPr kumimoji="1" lang="zh-CN" altLang="en-US" sz="1400" dirty="0" smtClean="0"/>
              <a:t>图</a:t>
            </a:r>
          </a:p>
          <a:p>
            <a:endParaRPr kumimoji="1" lang="zh-CN" altLang="en-US" sz="1400" dirty="0" smtClean="0"/>
          </a:p>
          <a:p>
            <a:endParaRPr kumimoji="1" lang="ja-JP" altLang="en-US" sz="1400" dirty="0" smtClean="0"/>
          </a:p>
        </p:txBody>
      </p:sp>
    </p:spTree>
    <p:extLst>
      <p:ext uri="{BB962C8B-B14F-4D97-AF65-F5344CB8AC3E}">
        <p14:creationId xmlns:p14="http://schemas.microsoft.com/office/powerpoint/2010/main" val="79269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smtClean="0"/>
              <a:t>2</a:t>
            </a:r>
            <a:endParaRPr kumimoji="1" lang="zh-CN" altLang="en-US" dirty="0"/>
          </a:p>
        </p:txBody>
      </p:sp>
      <p:sp>
        <p:nvSpPr>
          <p:cNvPr id="3" name="内容占位符 2"/>
          <p:cNvSpPr>
            <a:spLocks noGrp="1"/>
          </p:cNvSpPr>
          <p:nvPr>
            <p:ph idx="1"/>
          </p:nvPr>
        </p:nvSpPr>
        <p:spPr/>
        <p:txBody>
          <a:bodyPr>
            <a:normAutofit/>
          </a:bodyPr>
          <a:lstStyle/>
          <a:p>
            <a:r>
              <a:rPr kumimoji="1" lang="zh-CN" altLang="en-US" sz="1400" dirty="0" smtClean="0"/>
              <a:t>。。。</a:t>
            </a:r>
          </a:p>
          <a:p>
            <a:r>
              <a:rPr kumimoji="1" lang="zh-CN" altLang="en-US" sz="1400" dirty="0" smtClean="0"/>
              <a:t>。，，</a:t>
            </a:r>
          </a:p>
          <a:p>
            <a:endParaRPr kumimoji="1" lang="zh-CN" altLang="en-US" sz="1400" dirty="0" smtClean="0"/>
          </a:p>
          <a:p>
            <a:endParaRPr kumimoji="1" lang="zh-CN" altLang="en-US" sz="1400" dirty="0" smtClean="0"/>
          </a:p>
          <a:p>
            <a:endParaRPr kumimoji="1" lang="ja-JP" altLang="en-US" sz="1400" dirty="0" smtClean="0"/>
          </a:p>
        </p:txBody>
      </p:sp>
    </p:spTree>
    <p:extLst>
      <p:ext uri="{BB962C8B-B14F-4D97-AF65-F5344CB8AC3E}">
        <p14:creationId xmlns:p14="http://schemas.microsoft.com/office/powerpoint/2010/main" val="1228604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smtClean="0"/>
              <a:t>2</a:t>
            </a:r>
            <a:endParaRPr kumimoji="1" lang="zh-CN" altLang="en-US" dirty="0"/>
          </a:p>
        </p:txBody>
      </p:sp>
      <p:sp>
        <p:nvSpPr>
          <p:cNvPr id="3" name="内容占位符 2"/>
          <p:cNvSpPr>
            <a:spLocks noGrp="1"/>
          </p:cNvSpPr>
          <p:nvPr>
            <p:ph idx="1"/>
          </p:nvPr>
        </p:nvSpPr>
        <p:spPr/>
        <p:txBody>
          <a:bodyPr>
            <a:normAutofit/>
          </a:bodyPr>
          <a:lstStyle/>
          <a:p>
            <a:r>
              <a:rPr kumimoji="1" lang="ja-JP" altLang="en-US" sz="1400" dirty="0" smtClean="0"/>
              <a:t>勤務時間外によく利用していたテナントがわかる</a:t>
            </a:r>
          </a:p>
          <a:p>
            <a:r>
              <a:rPr kumimoji="1" lang="ja-JP" altLang="en-US" sz="1400" dirty="0" smtClean="0"/>
              <a:t>特定の時間帯にあるテナントに何か問題が起これば、テナントの利用回数はテーブルにて確認できる</a:t>
            </a:r>
          </a:p>
          <a:p>
            <a:endParaRPr kumimoji="1" lang="ja-JP" altLang="en-US" sz="1400" dirty="0" smtClean="0"/>
          </a:p>
        </p:txBody>
      </p:sp>
    </p:spTree>
    <p:extLst>
      <p:ext uri="{BB962C8B-B14F-4D97-AF65-F5344CB8AC3E}">
        <p14:creationId xmlns:p14="http://schemas.microsoft.com/office/powerpoint/2010/main" val="620097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3</a:t>
            </a:r>
            <a:r>
              <a:rPr kumimoji="1" lang="ja-JP" altLang="en-US" dirty="0" smtClean="0"/>
              <a:t>解約</a:t>
            </a:r>
            <a:endParaRPr kumimoji="1" lang="zh-CN" altLang="en-US" dirty="0"/>
          </a:p>
        </p:txBody>
      </p:sp>
      <p:sp>
        <p:nvSpPr>
          <p:cNvPr id="3" name="内容占位符 2"/>
          <p:cNvSpPr>
            <a:spLocks noGrp="1"/>
          </p:cNvSpPr>
          <p:nvPr>
            <p:ph idx="1"/>
          </p:nvPr>
        </p:nvSpPr>
        <p:spPr/>
        <p:txBody>
          <a:bodyPr>
            <a:normAutofit/>
          </a:bodyPr>
          <a:lstStyle/>
          <a:p>
            <a:r>
              <a:rPr kumimoji="1" lang="zh-CN" altLang="en-US" sz="1400" dirty="0" smtClean="0"/>
              <a:t>。。。</a:t>
            </a:r>
          </a:p>
          <a:p>
            <a:r>
              <a:rPr kumimoji="1" lang="zh-CN" altLang="en-US" sz="1400" dirty="0" smtClean="0"/>
              <a:t>。，，</a:t>
            </a:r>
          </a:p>
          <a:p>
            <a:endParaRPr kumimoji="1" lang="zh-CN" altLang="en-US" sz="1400" dirty="0" smtClean="0"/>
          </a:p>
          <a:p>
            <a:endParaRPr kumimoji="1" lang="zh-CN" altLang="en-US" sz="1400" dirty="0" smtClean="0"/>
          </a:p>
          <a:p>
            <a:endParaRPr kumimoji="1" lang="ja-JP" altLang="en-US" sz="1400" dirty="0" smtClean="0"/>
          </a:p>
        </p:txBody>
      </p:sp>
    </p:spTree>
    <p:extLst>
      <p:ext uri="{BB962C8B-B14F-4D97-AF65-F5344CB8AC3E}">
        <p14:creationId xmlns:p14="http://schemas.microsoft.com/office/powerpoint/2010/main" val="304934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3</a:t>
            </a:r>
            <a:r>
              <a:rPr kumimoji="1" lang="ja-JP" altLang="en-US" dirty="0" smtClean="0"/>
              <a:t>まとめ</a:t>
            </a:r>
            <a:endParaRPr kumimoji="1" lang="zh-CN" altLang="en-US" dirty="0"/>
          </a:p>
        </p:txBody>
      </p:sp>
      <p:sp>
        <p:nvSpPr>
          <p:cNvPr id="3" name="内容占位符 2"/>
          <p:cNvSpPr>
            <a:spLocks noGrp="1"/>
          </p:cNvSpPr>
          <p:nvPr>
            <p:ph idx="1"/>
          </p:nvPr>
        </p:nvSpPr>
        <p:spPr/>
        <p:txBody>
          <a:bodyPr>
            <a:normAutofit/>
          </a:bodyPr>
          <a:lstStyle/>
          <a:p>
            <a:endParaRPr kumimoji="1" lang="ja-JP" altLang="en-US" sz="1400" dirty="0" smtClean="0">
              <a:solidFill>
                <a:schemeClr val="accent2"/>
              </a:solidFill>
            </a:endParaRPr>
          </a:p>
          <a:p>
            <a:r>
              <a:rPr kumimoji="1" lang="ja-JP" altLang="en-US" sz="1400" dirty="0" smtClean="0">
                <a:solidFill>
                  <a:schemeClr val="accent2"/>
                </a:solidFill>
              </a:rPr>
              <a:t>っ</a:t>
            </a:r>
            <a:r>
              <a:rPr kumimoji="1" lang="en-US" altLang="ja-JP" sz="1400" dirty="0" smtClean="0">
                <a:solidFill>
                  <a:schemeClr val="accent2"/>
                </a:solidFill>
              </a:rPr>
              <a:t>f</a:t>
            </a:r>
            <a:endParaRPr kumimoji="1" lang="ja-JP" altLang="en-US" sz="1400" dirty="0" smtClean="0">
              <a:solidFill>
                <a:schemeClr val="accent2"/>
              </a:solidFill>
            </a:endParaRPr>
          </a:p>
          <a:p>
            <a:endParaRPr kumimoji="1" lang="ja-JP" altLang="en-US" sz="1400" dirty="0">
              <a:solidFill>
                <a:schemeClr val="accent2"/>
              </a:solidFill>
            </a:endParaRPr>
          </a:p>
          <a:p>
            <a:endParaRPr kumimoji="1" lang="ja-JP" altLang="en-US" sz="1400" dirty="0">
              <a:solidFill>
                <a:schemeClr val="accent2"/>
              </a:solidFill>
            </a:endParaRPr>
          </a:p>
          <a:p>
            <a:endParaRPr kumimoji="1" lang="ja-JP" altLang="en-US" sz="1400" dirty="0" smtClean="0">
              <a:solidFill>
                <a:schemeClr val="accent2"/>
              </a:solidFill>
            </a:endParaRPr>
          </a:p>
          <a:p>
            <a:endParaRPr kumimoji="1" lang="ja-JP" altLang="en-US" sz="1400" dirty="0">
              <a:solidFill>
                <a:schemeClr val="accent2"/>
              </a:solidFill>
            </a:endParaRPr>
          </a:p>
          <a:p>
            <a:endParaRPr kumimoji="1" lang="ja-JP" altLang="en-US" sz="1400" dirty="0" smtClean="0">
              <a:solidFill>
                <a:schemeClr val="accent2"/>
              </a:solidFill>
            </a:endParaRPr>
          </a:p>
          <a:p>
            <a:r>
              <a:rPr kumimoji="1" lang="ja-JP" altLang="en-US" sz="1400" dirty="0" smtClean="0">
                <a:solidFill>
                  <a:schemeClr val="accent2"/>
                </a:solidFill>
              </a:rPr>
              <a:t>シェアオフィス</a:t>
            </a:r>
            <a:r>
              <a:rPr kumimoji="1" lang="en-US" altLang="ja-JP" sz="1400" dirty="0" smtClean="0">
                <a:solidFill>
                  <a:schemeClr val="accent2"/>
                </a:solidFill>
              </a:rPr>
              <a:t>/</a:t>
            </a:r>
            <a:r>
              <a:rPr kumimoji="1" lang="ja-JP" altLang="en-US" sz="1400" dirty="0" smtClean="0">
                <a:solidFill>
                  <a:schemeClr val="accent2"/>
                </a:solidFill>
              </a:rPr>
              <a:t>学校</a:t>
            </a:r>
            <a:r>
              <a:rPr kumimoji="1" lang="en-US" altLang="ja-JP" sz="1400" dirty="0" smtClean="0">
                <a:solidFill>
                  <a:schemeClr val="accent2"/>
                </a:solidFill>
              </a:rPr>
              <a:t>/</a:t>
            </a:r>
            <a:r>
              <a:rPr kumimoji="1" lang="ja-JP" altLang="en-US" sz="1400" dirty="0" smtClean="0">
                <a:solidFill>
                  <a:schemeClr val="accent2"/>
                </a:solidFill>
              </a:rPr>
              <a:t>カフェ</a:t>
            </a:r>
            <a:r>
              <a:rPr kumimoji="1" lang="ja-JP" altLang="en-US" sz="1400" dirty="0" smtClean="0">
                <a:solidFill>
                  <a:schemeClr val="accent2"/>
                </a:solidFill>
              </a:rPr>
              <a:t>の出力のニーズが高い</a:t>
            </a:r>
          </a:p>
          <a:p>
            <a:pPr marL="0" indent="0">
              <a:buNone/>
            </a:pPr>
            <a:r>
              <a:rPr kumimoji="1" lang="ja-JP" altLang="en-US" sz="1400" dirty="0" smtClean="0"/>
              <a:t>　　</a:t>
            </a:r>
            <a:r>
              <a:rPr kumimoji="1" lang="ja-JP" altLang="en-US" sz="1400" dirty="0" smtClean="0"/>
              <a:t>会社テナントの</a:t>
            </a:r>
            <a:r>
              <a:rPr kumimoji="1" lang="ja-JP" altLang="en-US" sz="1400" dirty="0" smtClean="0"/>
              <a:t>出力</a:t>
            </a:r>
            <a:r>
              <a:rPr kumimoji="1" lang="ja-JP" altLang="en-US" sz="1400" dirty="0" smtClean="0"/>
              <a:t>総数が一番ですが、全体としてシェアオフィス</a:t>
            </a:r>
            <a:r>
              <a:rPr kumimoji="1" lang="en-US" altLang="ja-JP" sz="1400" dirty="0" smtClean="0"/>
              <a:t>/</a:t>
            </a:r>
            <a:r>
              <a:rPr kumimoji="1" lang="ja-JP" altLang="en-US" sz="1400" dirty="0" smtClean="0"/>
              <a:t>学校</a:t>
            </a:r>
            <a:r>
              <a:rPr kumimoji="1" lang="en-US" altLang="ja-JP" sz="1400" dirty="0" smtClean="0"/>
              <a:t>/</a:t>
            </a:r>
            <a:r>
              <a:rPr kumimoji="1" lang="ja-JP" altLang="en-US" sz="1400" dirty="0" smtClean="0"/>
              <a:t>カフェの利用頻度が会社より高い</a:t>
            </a:r>
          </a:p>
          <a:p>
            <a:pPr marL="0" indent="0">
              <a:buNone/>
            </a:pPr>
            <a:r>
              <a:rPr kumimoji="1" lang="ja-JP" altLang="en-US" sz="1400" dirty="0"/>
              <a:t>　</a:t>
            </a:r>
            <a:r>
              <a:rPr kumimoji="1" lang="ja-JP" altLang="en-US" sz="1400" dirty="0" smtClean="0"/>
              <a:t>　</a:t>
            </a:r>
            <a:r>
              <a:rPr kumimoji="1" lang="ja-JP" altLang="en-US" sz="1400" dirty="0" smtClean="0"/>
              <a:t>→長期利用の可能性が会社より高い</a:t>
            </a:r>
          </a:p>
          <a:p>
            <a:pPr marL="0" indent="0">
              <a:buNone/>
            </a:pPr>
            <a:endParaRPr kumimoji="1" lang="ja-JP" altLang="en-US" sz="1400" dirty="0"/>
          </a:p>
          <a:p>
            <a:pPr marL="0" indent="0">
              <a:buNone/>
            </a:pPr>
            <a:endParaRPr kumimoji="1" lang="ja-JP" altLang="en-US" sz="1400" dirty="0" smtClean="0">
              <a:solidFill>
                <a:schemeClr val="accent2"/>
              </a:solidFill>
            </a:endParaRPr>
          </a:p>
        </p:txBody>
      </p:sp>
    </p:spTree>
    <p:extLst>
      <p:ext uri="{BB962C8B-B14F-4D97-AF65-F5344CB8AC3E}">
        <p14:creationId xmlns:p14="http://schemas.microsoft.com/office/powerpoint/2010/main" val="426468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3</a:t>
            </a:r>
            <a:r>
              <a:rPr kumimoji="1" lang="ja-JP" altLang="en-US" dirty="0" smtClean="0"/>
              <a:t>提案</a:t>
            </a:r>
            <a:endParaRPr kumimoji="1" lang="zh-CN" altLang="en-US" dirty="0"/>
          </a:p>
        </p:txBody>
      </p:sp>
      <p:sp>
        <p:nvSpPr>
          <p:cNvPr id="3" name="内容占位符 2"/>
          <p:cNvSpPr>
            <a:spLocks noGrp="1"/>
          </p:cNvSpPr>
          <p:nvPr>
            <p:ph idx="1"/>
          </p:nvPr>
        </p:nvSpPr>
        <p:spPr/>
        <p:txBody>
          <a:bodyPr>
            <a:normAutofit/>
          </a:bodyPr>
          <a:lstStyle/>
          <a:p>
            <a:endParaRPr kumimoji="1" lang="ja-JP" altLang="en-US" sz="1400" dirty="0" smtClean="0">
              <a:solidFill>
                <a:schemeClr val="accent2"/>
              </a:solidFill>
            </a:endParaRPr>
          </a:p>
          <a:p>
            <a:r>
              <a:rPr kumimoji="1" lang="ja-JP" altLang="en-US" sz="1400" dirty="0" smtClean="0">
                <a:solidFill>
                  <a:schemeClr val="accent2"/>
                </a:solidFill>
              </a:rPr>
              <a:t>っ</a:t>
            </a:r>
            <a:r>
              <a:rPr kumimoji="1" lang="en-US" altLang="ja-JP" sz="1400" dirty="0" smtClean="0">
                <a:solidFill>
                  <a:schemeClr val="accent2"/>
                </a:solidFill>
              </a:rPr>
              <a:t>f</a:t>
            </a:r>
            <a:endParaRPr kumimoji="1" lang="ja-JP" altLang="en-US" sz="1400" dirty="0" smtClean="0">
              <a:solidFill>
                <a:schemeClr val="accent2"/>
              </a:solidFill>
            </a:endParaRPr>
          </a:p>
          <a:p>
            <a:endParaRPr kumimoji="1" lang="ja-JP" altLang="en-US" sz="1400" dirty="0">
              <a:solidFill>
                <a:schemeClr val="accent2"/>
              </a:solidFill>
            </a:endParaRPr>
          </a:p>
          <a:p>
            <a:r>
              <a:rPr kumimoji="1" lang="ja-JP" altLang="en-US" sz="1400" dirty="0" smtClean="0">
                <a:solidFill>
                  <a:schemeClr val="accent2"/>
                </a:solidFill>
              </a:rPr>
              <a:t>。。</a:t>
            </a:r>
            <a:endParaRPr kumimoji="1" lang="ja-JP" altLang="en-US" sz="1400" dirty="0">
              <a:solidFill>
                <a:schemeClr val="accent2"/>
              </a:solidFill>
            </a:endParaRPr>
          </a:p>
          <a:p>
            <a:pPr marL="0" indent="0">
              <a:buNone/>
            </a:pPr>
            <a:endParaRPr kumimoji="1" lang="ja-JP" altLang="en-US" sz="1400" dirty="0" smtClean="0"/>
          </a:p>
          <a:p>
            <a:pPr marL="0" indent="0">
              <a:buNone/>
            </a:pPr>
            <a:endParaRPr kumimoji="1" lang="ja-JP" altLang="en-US" sz="1400" dirty="0"/>
          </a:p>
          <a:p>
            <a:pPr marL="0" indent="0">
              <a:buNone/>
            </a:pPr>
            <a:endParaRPr kumimoji="1" lang="ja-JP" altLang="en-US" sz="1400" dirty="0" smtClean="0"/>
          </a:p>
          <a:p>
            <a:pPr marL="0" indent="0">
              <a:buNone/>
            </a:pPr>
            <a:endParaRPr kumimoji="1" lang="ja-JP" altLang="en-US" sz="1400" dirty="0"/>
          </a:p>
          <a:p>
            <a:pPr marL="0" indent="0">
              <a:buNone/>
            </a:pPr>
            <a:r>
              <a:rPr kumimoji="1" lang="ja-JP" altLang="en-US" sz="1400" dirty="0" smtClean="0">
                <a:solidFill>
                  <a:schemeClr val="accent2"/>
                </a:solidFill>
              </a:rPr>
              <a:t>その他：テナントを登録する際にお客様のタイプも記入する</a:t>
            </a:r>
          </a:p>
          <a:p>
            <a:pPr marL="0" indent="0">
              <a:buNone/>
            </a:pPr>
            <a:r>
              <a:rPr kumimoji="1" lang="ja-JP" altLang="en-US" sz="1400" dirty="0"/>
              <a:t>　</a:t>
            </a:r>
            <a:r>
              <a:rPr kumimoji="1" lang="ja-JP" altLang="en-US" sz="1400" dirty="0" smtClean="0"/>
              <a:t>・今後のデータ集計、分析などに役に立つ（</a:t>
            </a:r>
            <a:r>
              <a:rPr kumimoji="1" lang="ja-JP" altLang="en-US" sz="1400" dirty="0" smtClean="0"/>
              <a:t>より正確な結果</a:t>
            </a:r>
            <a:r>
              <a:rPr kumimoji="1" lang="ja-JP" altLang="en-US" sz="1400" dirty="0" smtClean="0"/>
              <a:t>を</a:t>
            </a:r>
            <a:r>
              <a:rPr kumimoji="1" lang="ja-JP" altLang="en-US" sz="1400" dirty="0" smtClean="0"/>
              <a:t>出せる</a:t>
            </a:r>
            <a:r>
              <a:rPr kumimoji="1" lang="ja-JP" altLang="en-US" sz="1400" dirty="0" smtClean="0"/>
              <a:t>）</a:t>
            </a:r>
          </a:p>
          <a:p>
            <a:pPr marL="0" indent="0">
              <a:buNone/>
            </a:pPr>
            <a:r>
              <a:rPr kumimoji="1" lang="ja-JP" altLang="en-US" sz="1400" dirty="0"/>
              <a:t>　</a:t>
            </a:r>
            <a:r>
              <a:rPr kumimoji="1" lang="ja-JP" altLang="en-US" sz="1400" dirty="0" smtClean="0"/>
              <a:t>　</a:t>
            </a:r>
            <a:endParaRPr kumimoji="1" lang="ja-JP" altLang="en-US" sz="1400" dirty="0" smtClean="0"/>
          </a:p>
          <a:p>
            <a:pPr marL="0" indent="0">
              <a:buNone/>
            </a:pPr>
            <a:endParaRPr kumimoji="1" lang="ja-JP" altLang="en-US" sz="1400" dirty="0" smtClean="0"/>
          </a:p>
        </p:txBody>
      </p:sp>
    </p:spTree>
    <p:extLst>
      <p:ext uri="{BB962C8B-B14F-4D97-AF65-F5344CB8AC3E}">
        <p14:creationId xmlns:p14="http://schemas.microsoft.com/office/powerpoint/2010/main" val="144041039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707</TotalTime>
  <Words>354</Words>
  <Application>Microsoft Macintosh PowerPoint</Application>
  <PresentationFormat>宽屏</PresentationFormat>
  <Paragraphs>76</Paragraphs>
  <Slides>12</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12</vt:i4>
      </vt:variant>
    </vt:vector>
  </HeadingPairs>
  <TitlesOfParts>
    <vt:vector size="18" baseType="lpstr">
      <vt:lpstr>Calibri</vt:lpstr>
      <vt:lpstr>Calibri Light</vt:lpstr>
      <vt:lpstr>ＭＳ Ｐゴシック</vt:lpstr>
      <vt:lpstr>宋体</vt:lpstr>
      <vt:lpstr>Arial</vt:lpstr>
      <vt:lpstr>Office 主题</vt:lpstr>
      <vt:lpstr>PowerPoint 演示文稿</vt:lpstr>
      <vt:lpstr>PowerPoint 演示文稿</vt:lpstr>
      <vt:lpstr>k</vt:lpstr>
      <vt:lpstr>k</vt:lpstr>
      <vt:lpstr>顧客タイプごとの出力状況</vt:lpstr>
      <vt:lpstr>１。４ファイルタイプの比率</vt:lpstr>
      <vt:lpstr>１。４ファイルタイプの比率</vt:lpstr>
      <vt:lpstr>2</vt:lpstr>
      <vt:lpstr>2</vt:lpstr>
      <vt:lpstr>3解約</vt:lpstr>
      <vt:lpstr>3まとめ</vt:lpstr>
      <vt:lpstr>3提案</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satie1019@163.com</dc:creator>
  <cp:lastModifiedBy>satie1019@163.com</cp:lastModifiedBy>
  <cp:revision>41</cp:revision>
  <dcterms:created xsi:type="dcterms:W3CDTF">2019-06-16T01:40:43Z</dcterms:created>
  <dcterms:modified xsi:type="dcterms:W3CDTF">2019-06-16T13:28:16Z</dcterms:modified>
</cp:coreProperties>
</file>